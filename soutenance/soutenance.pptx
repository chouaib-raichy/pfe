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Segoe UI"/>
              </a:rPr>
              <a:t>UNIVERSITÉ HASSAN II — CASABLANCA · FSAC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E2E8F0"/>
                </a:solidFill>
                <a:latin typeface="Segoe UI"/>
              </a:rPr>
              <a:t>Plateforme e-commerce
en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8BDF8"/>
                </a:solidFill>
                <a:latin typeface="Segoe UI"/>
              </a:rPr>
              <a:t>Persistance polyglotte · Sécurité OIDC · Observabilité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20116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Segoe UI"/>
              </a:rPr>
              <a:t>Projet de fin d'études — Licence DevOps
[Nom de l'étudiant]  ·  Encadrant : Pr. [Nom]
Année universitaire 2025 /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Soutenance —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Soutenance — 15 à 20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Contexte &amp; problématique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299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du monolithe aux microservices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603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Besoins &amp; choix technologiques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9443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étude de l'existant, justifications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747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Conception &amp;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587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services, sécurité, observabilité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Réalisation &amp; démonstration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731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Docker, Keycloak, Prometheus/Grafana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035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Segoe UI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035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2E8F0"/>
                </a:solidFill>
                <a:latin typeface="Segoe UI"/>
              </a:rPr>
              <a:t>Tests, résultats &amp; 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68756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52 tests, 7 cibles, 13 conteneurs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Contexte : du monolithe aux microservices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Modularité, résilience, scalabilité ciblée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Monolithe</a:t>
            </a:r>
            <a:r>
              <a:rPr sz="1600">
                <a:solidFill>
                  <a:srgbClr val="E2E8F0"/>
                </a:solidFill>
                <a:latin typeface="Segoe UI"/>
              </a:rPr>
              <a:t> un seul déployable : simple, mais couplage fort et scalabilité globale.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Microservices</a:t>
            </a:r>
            <a:r>
              <a:rPr sz="1600">
                <a:solidFill>
                  <a:srgbClr val="E2E8F0"/>
                </a:solidFill>
                <a:latin typeface="Segoe UI"/>
              </a:rPr>
              <a:t> services autonomes par domaine, déployés indépendamment.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Bénéfices</a:t>
            </a:r>
            <a:r>
              <a:rPr sz="1600">
                <a:solidFill>
                  <a:srgbClr val="E2E8F0"/>
                </a:solidFill>
                <a:latin typeface="Segoe UI"/>
              </a:rPr>
              <a:t> isolation des pannes, équipes et montées en charge ciblées.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Défis</a:t>
            </a:r>
            <a:r>
              <a:rPr sz="1600">
                <a:solidFill>
                  <a:srgbClr val="E2E8F0"/>
                </a:solidFill>
                <a:latin typeface="Segoe UI"/>
              </a:rPr>
              <a:t> découverte, configuration, sécurité distribuée, observabilité.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Réponse</a:t>
            </a:r>
            <a:r>
              <a:rPr sz="1600">
                <a:solidFill>
                  <a:srgbClr val="E2E8F0"/>
                </a:solidFill>
                <a:latin typeface="Segoe UI"/>
              </a:rPr>
              <a:t> briques Spring Cloud + Keycloak + Prometheus/Grafana.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51206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Navigateur
  └─► API Gateway
        ├─► product-service
        ├─► customer-service
        ├─► cart-service
        └─► order-service
  (Eureka = annuaire · Config Server = config)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4572000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Un point d'entrée unique (la passerelle) porte le routage, le CORS et la sécurité ; les services restent privés sur le réseau Docker.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Problématique &amp;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8BDF8"/>
                </a:solidFill>
                <a:latin typeface="Segoe UI"/>
              </a:rPr>
              <a:t>Comment passer de services développés séparément à une plateforme cohérente, reproductible, sécurisée et observable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Domaine</a:t>
            </a:r>
            <a:r>
              <a:rPr sz="1600">
                <a:solidFill>
                  <a:srgbClr val="E2E8F0"/>
                </a:solidFill>
                <a:latin typeface="Segoe UI"/>
              </a:rPr>
              <a:t> catalogue, clients, paniers, commandes.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Architecture</a:t>
            </a:r>
            <a:r>
              <a:rPr sz="1600">
                <a:solidFill>
                  <a:srgbClr val="E2E8F0"/>
                </a:solidFill>
                <a:latin typeface="Segoe UI"/>
              </a:rPr>
              <a:t> 4 services métier + config + découverte + passerelle.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Conteneurisation</a:t>
            </a:r>
            <a:r>
              <a:rPr sz="1600">
                <a:solidFill>
                  <a:srgbClr val="E2E8F0"/>
                </a:solidFill>
                <a:latin typeface="Segoe UI"/>
              </a:rPr>
              <a:t> Docker Compose : 13 conteneurs, volumes, healthchecks.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Sécurité</a:t>
            </a:r>
            <a:r>
              <a:rPr sz="1600">
                <a:solidFill>
                  <a:srgbClr val="E2E8F0"/>
                </a:solidFill>
                <a:latin typeface="Segoe UI"/>
              </a:rPr>
              <a:t> OIDC (Keycloak), JWT, autorisation par rôle et par propriété.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Persistance</a:t>
            </a:r>
            <a:r>
              <a:rPr sz="1600">
                <a:solidFill>
                  <a:srgbClr val="E2E8F0"/>
                </a:solidFill>
                <a:latin typeface="Segoe UI"/>
              </a:rPr>
              <a:t> polyglotte : PostgreSQL (référentiels) + MongoDB (agrégats).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Observabilité</a:t>
            </a:r>
            <a:r>
              <a:rPr sz="1600">
                <a:solidFill>
                  <a:srgbClr val="E2E8F0"/>
                </a:solidFill>
                <a:latin typeface="Segoe UI"/>
              </a:rPr>
              <a:t> métriques Prometheus (7 cibles) + dashboard Grafana.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Qualité</a:t>
            </a:r>
            <a:r>
              <a:rPr sz="1600">
                <a:solidFill>
                  <a:srgbClr val="E2E8F0"/>
                </a:solidFill>
                <a:latin typeface="Segoe UI"/>
              </a:rPr>
              <a:t> 52 tests automatisés, tous au vert.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Chaque outil justifié par un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Besoin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Outil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Services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Java 21 · Spring Boot 3.3 · Spring Cloud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Robustesse, écosystème microservices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Données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PostgreSQL 16 + MongoDB 7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Polyglotte : relationnel + documentaire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Identité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Keycloak 26 (OIDC / OAuth2)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Rôles et attributs, jetons JWT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Frontend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React 19 · Vite · TypeScript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SPA typée, Authorization Code + PKCE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Supervision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Prometheus · Grafana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Standard cloud-native, provisionné par code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Orchestration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Docker Compose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Pile locale reproductible (13 conteneurs)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Architecture générale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2E8F0"/>
                </a:solidFill>
                <a:latin typeface="Consolas"/>
              </a:rPr>
              <a:t>                         ┌───────────────────────────┐
                         │      Keycloak :8181        │  fournisseur OIDC
                         └─────────────▲─────────────┘
  Navigateur (SPA React)               │ jetons JWT
        │ Authorization Code + PKCE    │
        ▼                              │
  ┌────────────────────────┐    ┌──────┴───────┐
  │  API Gateway :8090     │◄──►│ Eureka :8761 │  annuaire de services
  │  routage · CORS · JWT  │    └──────────────┘
  └───┬───────┬───────┬────┘
      ▼       ▼       ▼
  product  customer  cart  order     services REST (privés au réseau Docker)
    :8081   :8082   :8083  :8084
      └───────┴───┬───┴───────┘
                  ▼
        PostgreSQL :5432 · MongoDB :27017 · Config Server :8888
  Prometheus :9090 scrape 7 cibles ──► Grafana :3000 (dashboard)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Découpage en services (bounded contexts)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Un service par domaine — persistance polyglotte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173736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Service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Domaine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Base logique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SGBD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Port interne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product-service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Catalogue (produits, catégories)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pfe_products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PostgreSQL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8081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customer-service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Clients (identité, contact)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pfe_customers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PostgreSQL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8082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cart-service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Paniers (lignes, quantités)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pfe_carts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MongoDB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8083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order-service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Commandes (validation, statut)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pfe_orders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MongoDB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8084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api-gateway / config / discovery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Passerelle · configuration · annuaire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8090 / 8888 / 8761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Persistance polyglotte : SQL + NoSQL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Un SGBD adapté à chaque type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834640"/>
                <a:gridCol w="3108960"/>
                <a:gridCol w="32918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Famille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Services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SGBD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Segoe UI"/>
                        </a:rPr>
                        <a:t>Raison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Référentiels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catalogue, clients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PostgreSQL 16 (JPA + Flyway)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unicité, FK, CHECK, transactions ACID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Agrégats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paniers, commandes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MongoDB 7 (inchangé)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lignes embarquées, snapshots, dénormalisation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2004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38BDF8"/>
                </a:solidFill>
                <a:latin typeface="Segoe UI"/>
              </a:rPr>
              <a:t>• Schéma &amp; données</a:t>
            </a:r>
            <a:r>
              <a:rPr sz="1400">
                <a:solidFill>
                  <a:srgbClr val="E2E8F0"/>
                </a:solidFill>
                <a:latin typeface="Segoe UI"/>
              </a:rPr>
              <a:t> gérés par Flyway (V1 schéma, V2 seed), ddl-auto=validate.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38BDF8"/>
                </a:solidFill>
                <a:latin typeface="Segoe UI"/>
              </a:rPr>
              <a:t>• Intégrité</a:t>
            </a:r>
            <a:r>
              <a:rPr sz="1400">
                <a:solidFill>
                  <a:srgbClr val="E2E8F0"/>
                </a:solidFill>
                <a:latin typeface="Segoe UI"/>
              </a:rPr>
              <a:t> contraintes au niveau base : UNIQUE email/catégorie, FK produit→catégorie, CHECK prix/stock.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38BDF8"/>
                </a:solidFill>
                <a:latin typeface="Segoe UI"/>
              </a:rPr>
              <a:t>• Périmètre</a:t>
            </a:r>
            <a:r>
              <a:rPr sz="1400">
                <a:solidFill>
                  <a:srgbClr val="E2E8F0"/>
                </a:solidFill>
                <a:latin typeface="Segoe UI"/>
              </a:rPr>
              <a:t> migration minimale (2 services / 4) ; contrats d'API et sécurité inchangés.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38BDF8"/>
                </a:solidFill>
                <a:latin typeface="Segoe UI"/>
              </a:rPr>
              <a:t>• Préservation</a:t>
            </a:r>
            <a:r>
              <a:rPr sz="1400">
                <a:solidFill>
                  <a:srgbClr val="E2E8F0"/>
                </a:solidFill>
                <a:latin typeface="Segoe UI"/>
              </a:rPr>
              <a:t> les données MongoDB historiques restent gelées (rollback possible).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38BDF8"/>
                </a:solidFill>
                <a:latin typeface="Segoe UI"/>
              </a:rPr>
              <a:t>• Limite</a:t>
            </a:r>
            <a:r>
              <a:rPr sz="1400">
                <a:solidFill>
                  <a:srgbClr val="E2E8F0"/>
                </a:solidFill>
                <a:latin typeface="Segoe UI"/>
              </a:rPr>
              <a:t> pas de transaction inter-bases — cohérence par snapshots et validation amont.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Sécurité : OIDC / OAuth2 avec Keycloak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Authentification fédérée, autorisation distribuée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Identité fédérée</a:t>
            </a:r>
            <a:r>
              <a:rPr sz="1500">
                <a:solidFill>
                  <a:srgbClr val="E2E8F0"/>
                </a:solidFill>
                <a:latin typeface="Segoe UI"/>
              </a:rPr>
              <a:t> Keycloak délivre les jetons (OIDC, Authorization Code + PKCE).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JWT</a:t>
            </a:r>
            <a:r>
              <a:rPr sz="1500">
                <a:solidFill>
                  <a:srgbClr val="E2E8F0"/>
                </a:solidFill>
                <a:latin typeface="Segoe UI"/>
              </a:rPr>
              <a:t> signature, émetteur (iss) et audience vérifiés par chaque service.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Resource servers</a:t>
            </a:r>
            <a:r>
              <a:rPr sz="1500">
                <a:solidFill>
                  <a:srgbClr val="E2E8F0"/>
                </a:solidFill>
                <a:latin typeface="Segoe UI"/>
              </a:rPr>
              <a:t> gateway, cart et order valident le jeton.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Rôles</a:t>
            </a:r>
            <a:r>
              <a:rPr sz="1500">
                <a:solidFill>
                  <a:srgbClr val="E2E8F0"/>
                </a:solidFill>
                <a:latin typeface="Segoe UI"/>
              </a:rPr>
              <a:t> ADMIN gère le catalogue et les clients ; CUSTOMER achète.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Propriété</a:t>
            </a:r>
            <a:r>
              <a:rPr sz="1500">
                <a:solidFill>
                  <a:srgbClr val="E2E8F0"/>
                </a:solidFill>
                <a:latin typeface="Segoe UI"/>
              </a:rPr>
              <a:t> le customer_id vient du jeton, jamais du navigateur.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Résultat</a:t>
            </a:r>
            <a:r>
              <a:rPr sz="1500">
                <a:solidFill>
                  <a:srgbClr val="E2E8F0"/>
                </a:solidFill>
                <a:latin typeface="Segoe UI"/>
              </a:rPr>
              <a:t> un client ne voit que ses paniers et commandes (403 sinon).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51206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requireOwnership(auth, customerId):
  if isAdmin(auth): return       # bypass
  own = customerId(auth)         # claim JWT
  if own != customerId:
     -&gt; AccessDenied (403)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429768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Le port de gestion (Actuator) de la passerelle est interne : aucune métrique n'est exposée sur le port public.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Matrice d'autorisation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Vérifiée de bout en bout : 401 · 403 ·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Ressource / opération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Anonyme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CUSTOMER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ADMIN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GET produits / catégories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Écriture produits / catégories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403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GET liste des clients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403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Paniers / commandes (les siens)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Paniers / commandes (autre client)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401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403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L'application — boutique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Démo : http://localhost:5173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498079" cy="4820193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Segoe UI"/>
              </a:rPr>
              <a:t>[ capture a inserer : docs/assets/ecom-app.png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Connexion</a:t>
            </a:r>
            <a:r>
              <a:rPr sz="1500">
                <a:solidFill>
                  <a:srgbClr val="E2E8F0"/>
                </a:solidFill>
                <a:latin typeface="Segoe UI"/>
              </a:rPr>
              <a:t> via Keycloak (PKCE)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Catalogue</a:t>
            </a:r>
            <a:r>
              <a:rPr sz="1500">
                <a:solidFill>
                  <a:srgbClr val="E2E8F0"/>
                </a:solidFill>
                <a:latin typeface="Segoe UI"/>
              </a:rPr>
              <a:t> produits paginés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Panier</a:t>
            </a:r>
            <a:r>
              <a:rPr sz="1500">
                <a:solidFill>
                  <a:srgbClr val="E2E8F0"/>
                </a:solidFill>
                <a:latin typeface="Segoe UI"/>
              </a:rPr>
              <a:t> par client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Commandes</a:t>
            </a:r>
            <a:r>
              <a:rPr sz="1500">
                <a:solidFill>
                  <a:srgbClr val="E2E8F0"/>
                </a:solidFill>
                <a:latin typeface="Segoe UI"/>
              </a:rPr>
              <a:t> suivi du statut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API</a:t>
            </a:r>
            <a:r>
              <a:rPr sz="1500">
                <a:solidFill>
                  <a:srgbClr val="E2E8F0"/>
                </a:solidFill>
                <a:latin typeface="Segoe UI"/>
              </a:rPr>
              <a:t> Bearer token injecté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Conteneurisation &amp;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Docker Compose — 13 conteneurs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Images</a:t>
            </a:r>
            <a:r>
              <a:rPr sz="1500">
                <a:solidFill>
                  <a:srgbClr val="E2E8F0"/>
                </a:solidFill>
                <a:latin typeface="Segoe UI"/>
              </a:rPr>
              <a:t> une image par service (build Maven/JVM, frontend Nginx).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Healthchecks</a:t>
            </a:r>
            <a:r>
              <a:rPr sz="1500">
                <a:solidFill>
                  <a:srgbClr val="E2E8F0"/>
                </a:solidFill>
                <a:latin typeface="Segoe UI"/>
              </a:rPr>
              <a:t> chaque service expose sa sonde de santé.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Chaîne</a:t>
            </a:r>
            <a:r>
              <a:rPr sz="1500">
                <a:solidFill>
                  <a:srgbClr val="E2E8F0"/>
                </a:solidFill>
                <a:latin typeface="Segoe UI"/>
              </a:rPr>
              <a:t> depends_on condition: service_healthy (infra → services → gateway).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Volumes</a:t>
            </a:r>
            <a:r>
              <a:rPr sz="1500">
                <a:solidFill>
                  <a:srgbClr val="E2E8F0"/>
                </a:solidFill>
                <a:latin typeface="Segoe UI"/>
              </a:rPr>
              <a:t> postgres/mongo/keycloak/prometheus/grafana : données persistantes.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Réseau</a:t>
            </a:r>
            <a:r>
              <a:rPr sz="1500">
                <a:solidFill>
                  <a:srgbClr val="E2E8F0"/>
                </a:solidFill>
                <a:latin typeface="Segoe UI"/>
              </a:rPr>
              <a:t> services métier privés ; PostgreSQL sans port hôte ; points d'entrée publiés.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Ports</a:t>
            </a:r>
            <a:r>
              <a:rPr sz="1500">
                <a:solidFill>
                  <a:srgbClr val="E2E8F0"/>
                </a:solidFill>
                <a:latin typeface="Segoe UI"/>
              </a:rPr>
              <a:t> gateway 8090, frontend 5173, keycloak 8181, prom 9090, grafana 3000.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52120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2E8F0"/>
                </a:solidFill>
                <a:latin typeface="Consolas"/>
              </a:rPr>
              <a:t>config-server ─┐
               ├─► eureka ─► 4 services ─► gateway ─► frontend
discovery ─────┘        ▲
postgres · mongo · keycloak ┘
prometheus ─► scrape 7 ─► grafana
docker compose -f docker-compose.ecom.yml up -d --build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Observabilité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Métriques exposées → Prometheus →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Instrumentation</a:t>
            </a:r>
            <a:r>
              <a:rPr sz="1500">
                <a:solidFill>
                  <a:srgbClr val="E2E8F0"/>
                </a:solidFill>
                <a:latin typeface="Segoe UI"/>
              </a:rPr>
              <a:t> Spring Boot Actuator + Micrometer par service.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Collecte</a:t>
            </a:r>
            <a:r>
              <a:rPr sz="1500">
                <a:solidFill>
                  <a:srgbClr val="E2E8F0"/>
                </a:solidFill>
                <a:latin typeface="Segoe UI"/>
              </a:rPr>
              <a:t> Prometheus scrape les 7 cibles (modèle pull).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Export</a:t>
            </a:r>
            <a:r>
              <a:rPr sz="1500">
                <a:solidFill>
                  <a:srgbClr val="E2E8F0"/>
                </a:solidFill>
                <a:latin typeface="Segoe UI"/>
              </a:rPr>
              <a:t> /actuator/prometheus : compteurs + histogrammes de latence.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Restitution</a:t>
            </a:r>
            <a:r>
              <a:rPr sz="1500">
                <a:solidFill>
                  <a:srgbClr val="E2E8F0"/>
                </a:solidFill>
                <a:latin typeface="Segoe UI"/>
              </a:rPr>
              <a:t> dashboard Grafana provisionné par code (11 panneaux).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Isolation</a:t>
            </a:r>
            <a:r>
              <a:rPr sz="1500">
                <a:solidFill>
                  <a:srgbClr val="E2E8F0"/>
                </a:solidFill>
                <a:latin typeface="Segoe UI"/>
              </a:rPr>
              <a:t> Actuator du gateway sur un port de gestion interne.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52120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2E8F0"/>
                </a:solidFill>
                <a:latin typeface="Consolas"/>
              </a:rPr>
              <a:t>sum by (application) (
  rate(http_server_requests_seconds_count[1m]))
histogram_quantile(0.95,
  sum by (le) (
    rate(http_server_requests_seconds_bucket[5m])))
up{job="pfe-ecom"}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Dashboard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pfe-ecom-overview — provisionné au démarrage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9692640" cy="6230982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Segoe UI"/>
              </a:rPr>
              <a:t>[ capture a inserer : docs/assets/ecom-grafana.png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Tests &amp; résultats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tests au vert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39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échec / erreur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conteneurs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59" y="1645920"/>
            <a:ext cx="2651760" cy="13716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81159" y="18288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38BDF8"/>
                </a:solidFill>
                <a:latin typeface="Segoe UI"/>
              </a:rPr>
              <a:t>7/7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2560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Segoe UI"/>
              </a:rPr>
              <a:t>cibles Prometheus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32918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22860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Service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Résultat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product-service / customer-service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12 / 9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cart-service / order-service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13 / 12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api-gateway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Tests sur bases isolées (postgres-test + mongo-test) ; parcours API, sécurité (401/403/200) et contraintes de base.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Résultats de la pile complète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Vérifié en conditions réelles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49377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Élément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8BDF8"/>
                          </a:solidFill>
                          <a:latin typeface="Segoe UI"/>
                        </a:rPr>
                        <a:t>Vérification</a:t>
                      </a:r>
                    </a:p>
                  </a:txBody>
                  <a:tcPr marL="73152" marR="73152" marT="27432" marB="27432">
                    <a:solidFill>
                      <a:srgbClr val="2434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Boutique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localhost:5173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SPA servie, connexion Keycloak, données affichées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API produits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localhost:8090/api/products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200 public · CRUD réservé ADMIN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Sécurité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localhost:8181 (Keycloak)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jetons JWT · matrice 401/403/200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Prometheus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localhost:9090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7/7 cibles up · échantillons collectés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Grafana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localhost:3000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2E8F0"/>
                          </a:solidFill>
                          <a:latin typeface="Segoe UI"/>
                        </a:rPr>
                        <a:t>dashboard pfe-ecom-overview (11 panneaux)</a:t>
                      </a:r>
                    </a:p>
                  </a:txBody>
                  <a:tcPr marL="73152" marR="73152" marT="27432" marB="27432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Reproductibilité</a:t>
            </a:r>
            <a:r>
              <a:rPr sz="1500">
                <a:solidFill>
                  <a:srgbClr val="E2E8F0"/>
                </a:solidFill>
                <a:latin typeface="Segoe UI"/>
              </a:rPr>
              <a:t> docker compose -f docker-compose.ecom.yml up -d --build (13 sains)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38BDF8"/>
                </a:solidFill>
                <a:latin typeface="Segoe UI"/>
              </a:rPr>
              <a:t>• Persistance</a:t>
            </a:r>
            <a:r>
              <a:rPr sz="1500">
                <a:solidFill>
                  <a:srgbClr val="E2E8F0"/>
                </a:solidFill>
                <a:latin typeface="Segoe UI"/>
              </a:rPr>
              <a:t> les volumes postgres + mongo survivent à un down / up (sans -v).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2E8F0"/>
                </a:solidFill>
                <a:latin typeface="Segoe UI"/>
              </a:rP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Segoe UI"/>
              </a:rPr>
              <a:t>Ce qui prolonge naturellement le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46304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Sécurité inter-services</a:t>
            </a:r>
            <a:r>
              <a:rPr sz="1600">
                <a:solidFill>
                  <a:srgbClr val="E2E8F0"/>
                </a:solidFill>
                <a:latin typeface="Segoe UI"/>
              </a:rPr>
              <a:t> jetons de service (client credentials) ou mTLS.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Alerting</a:t>
            </a:r>
            <a:r>
              <a:rPr sz="1600">
                <a:solidFill>
                  <a:srgbClr val="E2E8F0"/>
                </a:solidFill>
                <a:latin typeface="Segoe UI"/>
              </a:rPr>
              <a:t> règles Prometheus + Alertmanager (latence, 5xx, cible DOWN).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CI/CD</a:t>
            </a:r>
            <a:r>
              <a:rPr sz="1600">
                <a:solidFill>
                  <a:srgbClr val="E2E8F0"/>
                </a:solidFill>
                <a:latin typeface="Segoe UI"/>
              </a:rPr>
              <a:t> pipeline build + tests + publication d'images pour cette pile.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Cohérence métier</a:t>
            </a:r>
            <a:r>
              <a:rPr sz="1600">
                <a:solidFill>
                  <a:srgbClr val="E2E8F0"/>
                </a:solidFill>
                <a:latin typeface="Segoe UI"/>
              </a:rPr>
              <a:t> décrément de stock, sagas pour les transactions distribuées.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Traces &amp; logs</a:t>
            </a:r>
            <a:r>
              <a:rPr sz="1600">
                <a:solidFill>
                  <a:srgbClr val="E2E8F0"/>
                </a:solidFill>
                <a:latin typeface="Segoe UI"/>
              </a:rPr>
              <a:t> OpenTelemetry + Loki : compléter les métriques.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8BDF8"/>
                </a:solidFill>
                <a:latin typeface="Segoe UI"/>
              </a:rPr>
              <a:t>• Industrialisation</a:t>
            </a:r>
            <a:r>
              <a:rPr sz="1600">
                <a:solidFill>
                  <a:srgbClr val="E2E8F0"/>
                </a:solidFill>
                <a:latin typeface="Segoe UI"/>
              </a:rPr>
              <a:t> Kubernetes (Ingress, HPA) et approche GitOps.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E2E8F0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8BDF8"/>
                </a:solidFill>
                <a:latin typeface="Segoe UI"/>
              </a:rPr>
              <a:t>Des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Segoe UI"/>
              </a:rPr>
              <a:t>Plateforme e-commerce microservices · Licence DevOps · FSAC Casablanca
Démo : localhost:5173 · Grafana : 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