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Segoe UI"/>
              </a:rPr>
              <a:t>UNIVERSITÉ HASSAN II — CASABLANCA · FSAC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Segoe UI"/>
              </a:rPr>
              <a:t>Industrialisation d'une application web
de gestion de projets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8BDF8"/>
                </a:solidFill>
                <a:latin typeface="Segoe UI"/>
              </a:rPr>
              <a:t>CI/CD · Conteneurisation · Observabilité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Segoe UI"/>
              </a:rPr>
              <a:t>Projet de fin d'études — Licence DevOps
[Nom de l'étudiant]  ·  Encadrant : Pr. [Nom]
Année universitaire 2025 /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Soutenance —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Soutenance — 15 à 20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Segoe U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299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DevOps, CI/CD, conteneurisation, observabilité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Segoe UI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Segoe UI"/>
              </a:rPr>
              <a:t>Besoins &amp; choix technologiques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44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étude de l'existant, justifications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Segoe U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Segoe UI"/>
              </a:rPr>
              <a:t>Conception &amp;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587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modèle de données, pipeline, observabilité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Segoe U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Segoe UI"/>
              </a:rPr>
              <a:t>Réalisation &amp; démonstration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73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Docker, GitHub Actions, Prometheus/Grafana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BDF8"/>
                </a:solidFill>
                <a:latin typeface="Segoe UI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035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Segoe UI"/>
              </a:rPr>
              <a:t>Tests, résultats &amp; perspectives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875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99 % de couverture, démo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Contexte : pourquoi le DevOps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De la cascade au flux continu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DevOps</a:t>
            </a:r>
            <a:r>
              <a:rPr sz="1600">
                <a:solidFill>
                  <a:srgbClr val="E2E8F0"/>
                </a:solidFill>
                <a:latin typeface="Segoe UI"/>
              </a:rPr>
              <a:t> rapprocher développement et exploitation, livrer plus vite et mieux.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Intégration continue</a:t>
            </a:r>
            <a:r>
              <a:rPr sz="1600">
                <a:solidFill>
                  <a:srgbClr val="E2E8F0"/>
                </a:solidFill>
                <a:latin typeface="Segoe UI"/>
              </a:rPr>
              <a:t> chaque push déclenche tests + contrôles qualité.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Déploiement continu</a:t>
            </a:r>
            <a:r>
              <a:rPr sz="1600">
                <a:solidFill>
                  <a:srgbClr val="E2E8F0"/>
                </a:solidFill>
                <a:latin typeface="Segoe UI"/>
              </a:rPr>
              <a:t> le code validé devient production sans manipulation.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Conteneurisation</a:t>
            </a:r>
            <a:r>
              <a:rPr sz="1600">
                <a:solidFill>
                  <a:srgbClr val="E2E8F0"/>
                </a:solidFill>
                <a:latin typeface="Segoe UI"/>
              </a:rPr>
              <a:t> « ça marche sur ma machine » éliminé par l'image Docker.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Observabilité</a:t>
            </a:r>
            <a:r>
              <a:rPr sz="1600">
                <a:solidFill>
                  <a:srgbClr val="E2E8F0"/>
                </a:solidFill>
                <a:latin typeface="Segoe UI"/>
              </a:rPr>
              <a:t> l'application expose son état et ses métriques en continu.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2E8F0"/>
                </a:solidFill>
                <a:latin typeface="Consolas"/>
              </a:rPr>
              <a:t>commit
  └─► lint
        └─► tests
              └─► build image
                    └─► scan sécurité
                          └─► publish
                                └─►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84632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Indicateurs DORA : fréquence de déploiement, délai de mise en production,
taux d'échec, temps de restauration.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Problématique &amp;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38BDF8"/>
                </a:solidFill>
                <a:latin typeface="Segoe UI"/>
              </a:rPr>
              <a:t>Comment passer d'un code fonctionnel sur un poste de développement à une application livrable, reproductible, testée et observable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Application web complète</a:t>
            </a:r>
            <a:r>
              <a:rPr sz="1600">
                <a:solidFill>
                  <a:srgbClr val="E2E8F0"/>
                </a:solidFill>
                <a:latin typeface="Segoe UI"/>
              </a:rPr>
              <a:t> CRUD projets, tâches, recherche, API REST.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Image Docker multi-stage</a:t>
            </a:r>
            <a:r>
              <a:rPr sz="1600">
                <a:solidFill>
                  <a:srgbClr val="E2E8F0"/>
                </a:solidFill>
                <a:latin typeface="Segoe UI"/>
              </a:rPr>
              <a:t> non-root, healthcheck, couches cachées.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Orchestration Compose</a:t>
            </a:r>
            <a:r>
              <a:rPr sz="1600">
                <a:solidFill>
                  <a:srgbClr val="E2E8F0"/>
                </a:solidFill>
                <a:latin typeface="Segoe UI"/>
              </a:rPr>
              <a:t> PostgreSQL, volumes, dépendances saines.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Pipeline CI/CD</a:t>
            </a:r>
            <a:r>
              <a:rPr sz="1600">
                <a:solidFill>
                  <a:srgbClr val="E2E8F0"/>
                </a:solidFill>
                <a:latin typeface="Segoe UI"/>
              </a:rPr>
              <a:t> qualité → tests → build → scan → publication → déploiement.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Observabilité as code</a:t>
            </a:r>
            <a:r>
              <a:rPr sz="1600">
                <a:solidFill>
                  <a:srgbClr val="E2E8F0"/>
                </a:solidFill>
                <a:latin typeface="Segoe UI"/>
              </a:rPr>
              <a:t> Prometheus + Grafana provisionnés en YAML/JSON.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Qualité garantie</a:t>
            </a:r>
            <a:r>
              <a:rPr sz="1600">
                <a:solidFill>
                  <a:srgbClr val="E2E8F0"/>
                </a:solidFill>
                <a:latin typeface="Segoe UI"/>
              </a:rPr>
              <a:t> 9 tests, 99 % de couverture, seuil bloquant à 90 %.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Choix technologiques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Chaque outil justifié par un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51206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Besoin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Outil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Justification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Application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Python 3.14 · FastAPI · Jinja2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Rapide, OpenAPI auto, zéro build front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Données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SQLAlchemy 2 · PostgreSQL 17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Typage moderne, standard industriel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Conteneurs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Docker (multi-stage) · Compose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Reproductibilité, profils d'environnement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CI/CD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GitHub Actions · GHCR · Trivy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Sans serveur, registre intégré, scan sécurité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Qualité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Ruff · pytest · pytest-cov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Lint/format ultra-rapides, couverture ≥ 90 %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Supervision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Prometheus · Grafana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Standard cloud-native, provisionné par code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Architecture générale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                      ┌────────────────────────────────────────────┐
                      │      GitHub Actions  (push / PR)          │
                      │  quality ─► docker ─► deploy (optionnel)  │
                      └──────────────────┬───────────────────────┘
                                         │ build + push (GHCR)
  Navigateur ────────► ┌──────────────────▼───────────────────────┐
  :8000  app          │  app FastAPI (uvicorn, non-root, sain)   │
  ◄── Prometheus ─────│  /metrics  /healthz  /api  /projects      │
      scrape 5s       └──────────────────┬───────────────────────┘
  Grafana :3000                          │ SQLAlchemy
  dashboard auto     ┌───────────────────▼───────────────────────┐
                     │  PostgreSQL :5432   volume db-data        │
                     └────────────────────────────────────────────┘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Profil Compose « observability » : la pile de base reste app + base ; Prometheus/Grafana s'ajoutent en une commande.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L'application — tableau de bord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Démo live : http://127.0.0.1:8000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pic>
        <p:nvPicPr>
          <p:cNvPr id="6" name="Picture 5" descr="ap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8201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Compteurs</a:t>
            </a:r>
            <a:r>
              <a:rPr sz="1500">
                <a:solidFill>
                  <a:srgbClr val="E2E8F0"/>
                </a:solidFill>
                <a:latin typeface="Segoe UI"/>
              </a:rPr>
              <a:t> projets, tâches, avancement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Recherche</a:t>
            </a:r>
            <a:r>
              <a:rPr sz="1500">
                <a:solidFill>
                  <a:srgbClr val="E2E8F0"/>
                </a:solidFill>
                <a:latin typeface="Segoe UI"/>
              </a:rPr>
              <a:t> titre ou étudiant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Filtres</a:t>
            </a:r>
            <a:r>
              <a:rPr sz="1500">
                <a:solidFill>
                  <a:srgbClr val="E2E8F0"/>
                </a:solidFill>
                <a:latin typeface="Segoe UI"/>
              </a:rPr>
              <a:t> statut : en cours / soutenu / validé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Barres d'avancement</a:t>
            </a:r>
            <a:r>
              <a:rPr sz="1500">
                <a:solidFill>
                  <a:srgbClr val="E2E8F0"/>
                </a:solidFill>
                <a:latin typeface="Segoe UI"/>
              </a:rPr>
              <a:t> par projet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API Swagger</a:t>
            </a:r>
            <a:r>
              <a:rPr sz="1500">
                <a:solidFill>
                  <a:srgbClr val="E2E8F0"/>
                </a:solidFill>
                <a:latin typeface="Segoe UI"/>
              </a:rPr>
              <a:t> /api/docs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L'application — suivi d'un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Tâches, statut, date de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pic>
        <p:nvPicPr>
          <p:cNvPr id="6" name="Picture 5" descr="app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8201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Tâches</a:t>
            </a:r>
            <a:r>
              <a:rPr sz="1500">
                <a:solidFill>
                  <a:srgbClr val="E2E8F0"/>
                </a:solidFill>
                <a:latin typeface="Segoe UI"/>
              </a:rPr>
              <a:t> ajout + bascule terminé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Statut</a:t>
            </a:r>
            <a:r>
              <a:rPr sz="1500">
                <a:solidFill>
                  <a:srgbClr val="E2E8F0"/>
                </a:solidFill>
                <a:latin typeface="Segoe UI"/>
              </a:rPr>
              <a:t> modification en un clic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Encadrant</a:t>
            </a:r>
            <a:r>
              <a:rPr sz="1500">
                <a:solidFill>
                  <a:srgbClr val="E2E8F0"/>
                </a:solidFill>
                <a:latin typeface="Segoe UI"/>
              </a:rPr>
              <a:t> étudiant, date de soutenance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API REST</a:t>
            </a:r>
            <a:r>
              <a:rPr sz="1500">
                <a:solidFill>
                  <a:srgbClr val="E2E8F0"/>
                </a:solidFill>
                <a:latin typeface="Segoe UI"/>
              </a:rPr>
              <a:t> JSON documenté OpenAPI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  <a:latin typeface="Segoe UI"/>
              </a:rPr>
              <a:t>• Interface</a:t>
            </a:r>
            <a:r>
              <a:rPr sz="1500">
                <a:solidFill>
                  <a:srgbClr val="E2E8F0"/>
                </a:solidFill>
                <a:latin typeface="Segoe UI"/>
              </a:rPr>
              <a:t> 100 % hors-ligne (aucun CDN)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Conteneurisation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Dockerfile multi-stage +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Étage builder</a:t>
            </a:r>
            <a:r>
              <a:rPr sz="1600">
                <a:solidFill>
                  <a:srgbClr val="E2E8F0"/>
                </a:solidFill>
                <a:latin typeface="Segoe UI"/>
              </a:rPr>
              <a:t> venv isolé, pip sans cache, couches invalidées seulement si deps changent.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Étage runtime</a:t>
            </a:r>
            <a:r>
              <a:rPr sz="1600">
                <a:solidFill>
                  <a:srgbClr val="E2E8F0"/>
                </a:solidFill>
                <a:latin typeface="Segoe UI"/>
              </a:rPr>
              <a:t> image finale légère : venv + code, sans outils de build.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Sécurité</a:t>
            </a:r>
            <a:r>
              <a:rPr sz="1600">
                <a:solidFill>
                  <a:srgbClr val="E2E8F0"/>
                </a:solidFill>
                <a:latin typeface="Segoe UI"/>
              </a:rPr>
              <a:t> utilisateur non-root uid 10001, aucun secret dans l'image.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Santé</a:t>
            </a:r>
            <a:r>
              <a:rPr sz="1600">
                <a:solidFill>
                  <a:srgbClr val="E2E8F0"/>
                </a:solidFill>
                <a:latin typeface="Segoe UI"/>
              </a:rPr>
              <a:t> HEALTHCHECK → Docker détecte et redémarre automatiquement.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Compose</a:t>
            </a:r>
            <a:r>
              <a:rPr sz="1600">
                <a:solidFill>
                  <a:srgbClr val="E2E8F0"/>
                </a:solidFill>
                <a:latin typeface="Segoe UI"/>
              </a:rPr>
              <a:t> dépendance db : condition: service_healthy, volume persistant.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Profils</a:t>
            </a:r>
            <a:r>
              <a:rPr sz="1600">
                <a:solidFill>
                  <a:srgbClr val="E2E8F0"/>
                </a:solidFill>
                <a:latin typeface="Segoe UI"/>
              </a:rPr>
              <a:t> --profile observability ajoute Prometheus + Grafana.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52120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FROM python:3.14-slim AS builder
RUN python -m venv /opt/venv
COPY requirements.txt .
RUN pip install -r requirements.txt
FROM python:3.14-slim
RUN useradd --system --uid 10001 appuser
COPY --from=builder /opt/venv /opt/venv
COPY app ./app
USER appuser
HEALTHCHECK CMD python -c "urllib...healthz"
CMD ["uvicorn","app.main:app","--host","0.0.0.0"]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Pipeline CI/CD —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Trois jobs en cascade, chaque étape est un garde-fou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6675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Job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Déclencheur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Étapes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push + pull request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ruff check · ruff format · pytest --cov-fail-under=90 · artefact coverage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docker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push uniquement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login GHCR · tags automatiques (sha, latest) · build+cache GHA · push · scan Trivy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deploy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main + DEPLOY_ENABLED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SSH → docker compose pull &amp;&amp; up -d (secrets : host, user, clé)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Quality gate</a:t>
            </a:r>
            <a:r>
              <a:rPr sz="1600">
                <a:solidFill>
                  <a:srgbClr val="E2E8F0"/>
                </a:solidFill>
                <a:latin typeface="Segoe UI"/>
              </a:rPr>
              <a:t> une couverture &lt; 90 % casse la CI : pas d'image, pas de déploiement.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Sécurité</a:t>
            </a:r>
            <a:r>
              <a:rPr sz="1600">
                <a:solidFill>
                  <a:srgbClr val="E2E8F0"/>
                </a:solidFill>
                <a:latin typeface="Segoe UI"/>
              </a:rPr>
              <a:t> aucun secret en dépôt — secrets GitHub injectés à l'exécution.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Performance</a:t>
            </a:r>
            <a:r>
              <a:rPr sz="1600">
                <a:solidFill>
                  <a:srgbClr val="E2E8F0"/>
                </a:solidFill>
                <a:latin typeface="Segoe UI"/>
              </a:rPr>
              <a:t> cache de build GHA : reconstructions en quelques secondes.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Traçabilité</a:t>
            </a:r>
            <a:r>
              <a:rPr sz="1600">
                <a:solidFill>
                  <a:srgbClr val="E2E8F0"/>
                </a:solidFill>
                <a:latin typeface="Segoe UI"/>
              </a:rPr>
              <a:t> chaque image taguée par le sha du commit déployé.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Observabilité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Métriques exposées → Prometheus →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Instrumentation</a:t>
            </a:r>
            <a:r>
              <a:rPr sz="1600">
                <a:solidFill>
                  <a:srgbClr val="E2E8F0"/>
                </a:solidFill>
                <a:latin typeface="Segoe UI"/>
              </a:rPr>
              <a:t> middleware : http_requests_total + histogramme de latence.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Collecte</a:t>
            </a:r>
            <a:r>
              <a:rPr sz="1600">
                <a:solidFill>
                  <a:srgbClr val="E2E8F0"/>
                </a:solidFill>
                <a:latin typeface="Segoe UI"/>
              </a:rPr>
              <a:t> Prometheus scrape app:8000/metrics toutes les 5 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Santé</a:t>
            </a:r>
            <a:r>
              <a:rPr sz="1600">
                <a:solidFill>
                  <a:srgbClr val="E2E8F0"/>
                </a:solidFill>
                <a:latin typeface="Segoe UI"/>
              </a:rPr>
              <a:t> /healthz vérifie app + base — sonde Docker et readiness.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Provisioning</a:t>
            </a:r>
            <a:r>
              <a:rPr sz="1600">
                <a:solidFill>
                  <a:srgbClr val="E2E8F0"/>
                </a:solidFill>
                <a:latin typeface="Segoe UI"/>
              </a:rPr>
              <a:t> datasource + dashboard en YAML/JSON versionnés.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Alerte potentielle</a:t>
            </a:r>
            <a:r>
              <a:rPr sz="1600">
                <a:solidFill>
                  <a:srgbClr val="E2E8F0"/>
                </a:solidFill>
                <a:latin typeface="Segoe UI"/>
              </a:rPr>
              <a:t> règles PromQL prêtes pour Alertmanager.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52120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2E8F0"/>
                </a:solidFill>
                <a:latin typeface="Consolas"/>
              </a:rPr>
              <a:t>sum by (status) (
  rate(http_requests_total[1m]))
histogram_quantile(0.95,
  sum by (le) (
    rate(http_request_duration_seconds_bucket[5m])))
up{job="pfe-flow"}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0292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Dashboard : débit par code HTTP, latence p95,
projets enregistrés, requêtes/min, disponibilité.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Dashboard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Provisionné au démarrage — aucune configuration manuelle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pic>
        <p:nvPicPr>
          <p:cNvPr id="6" name="Picture 5" descr="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554480"/>
            <a:ext cx="7680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Tests &amp;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65176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tests fonctionnels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645920"/>
            <a:ext cx="265176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20439" y="18288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Segoe UI"/>
              </a:rPr>
              <a:t>99 %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560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couverture 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65176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Segoe UI"/>
              </a:rPr>
              <a:t>90 %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seuil bloquant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1645920"/>
            <a:ext cx="265176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81159" y="18288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560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services conteneurisés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2E8F0"/>
                </a:solidFill>
                <a:latin typeface="Consolas"/>
              </a:rPr>
              <a:t>$ pytest --cov=app
9 passed in 1.97s
Name              Stmts   Miss  Cover
app/config.py         3      0   100%
app/database.py      13      0   100%
app/main.py         105      1    99%
app/metrics.py        4      0   100%
app/models.py        25      0   100%
TOTAL               150      1    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Scénario de démo automatisé : scripts/demo.ps1 (stack, données, trafic, ouverture des interfaces).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Résultats de la pile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Vérifié en conditions réelles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59436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URL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Segoe UI"/>
                        </a:rPr>
                        <a:t>Vérification</a:t>
                      </a:r>
                    </a:p>
                  </a:txBody>
                  <a:tcPr marL="73152" marR="73152" marT="27432" marB="27432">
                    <a:solidFill>
                      <a:srgbClr val="2434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Application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127.0.0.1:8000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/healthz → {status: ok, db: up} · données affichées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API Swagger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127.0.0.1:8000/api/docs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Schéma OpenAPI généré automatiquement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Prometheus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127.0.0.1:9090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Cible pfe-flow : state = up · échantillons collectés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Grafana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127.0.0.1:3000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Dashboard « PFE Flow — Observabilité » provisionné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CI/CD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GitHub Actions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Segoe UI"/>
                        </a:rPr>
                        <a:t>quality → docker (GHCR, Trivy) → deploy (conditionnel)</a:t>
                      </a:r>
                    </a:p>
                  </a:txBody>
                  <a:tcPr marL="73152" marR="73152" marT="27432" marB="27432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Reproductibilité</a:t>
            </a:r>
            <a:r>
              <a:rPr sz="1600">
                <a:solidFill>
                  <a:srgbClr val="E2E8F0"/>
                </a:solidFill>
                <a:latin typeface="Segoe UI"/>
              </a:rPr>
              <a:t> une commande : docker compose --profile observability up -d --build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8BDF8"/>
                </a:solidFill>
                <a:latin typeface="Segoe UI"/>
              </a:rPr>
              <a:t>• Hors-ligne</a:t>
            </a:r>
            <a:r>
              <a:rPr sz="1600">
                <a:solidFill>
                  <a:srgbClr val="E2E8F0"/>
                </a:solidFill>
                <a:latin typeface="Segoe UI"/>
              </a:rPr>
              <a:t> aucune ressource CDN : la démo fonctionne sans Internet (hors push Git).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Segoe UI"/>
              </a:rP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Ce qui prolonge naturellement le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38BDF8"/>
                </a:solidFill>
                <a:latin typeface="Segoe UI"/>
              </a:rPr>
              <a:t>• Kubernetes</a:t>
            </a:r>
            <a:r>
              <a:rPr sz="1700">
                <a:solidFill>
                  <a:srgbClr val="E2E8F0"/>
                </a:solidFill>
                <a:latin typeface="Segoe UI"/>
              </a:rPr>
              <a:t> Deployments, Services, Ingress, autoscaling horizontal.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38BDF8"/>
                </a:solidFill>
                <a:latin typeface="Segoe UI"/>
              </a:rPr>
              <a:t>• GitOps</a:t>
            </a:r>
            <a:r>
              <a:rPr sz="1700">
                <a:solidFill>
                  <a:srgbClr val="E2E8F0"/>
                </a:solidFill>
                <a:latin typeface="Segoe UI"/>
              </a:rPr>
              <a:t> ArgoCD : la production suit l'état du dépôt Git.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38BDF8"/>
                </a:solidFill>
                <a:latin typeface="Segoe UI"/>
              </a:rPr>
              <a:t>• Logs &amp; traces</a:t>
            </a:r>
            <a:r>
              <a:rPr sz="1700">
                <a:solidFill>
                  <a:srgbClr val="E2E8F0"/>
                </a:solidFill>
                <a:latin typeface="Segoe UI"/>
              </a:rPr>
              <a:t> Loki + OpenTelemetry : les trois piliers de l'observabilité.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38BDF8"/>
                </a:solidFill>
                <a:latin typeface="Segoe UI"/>
              </a:rPr>
              <a:t>• Alerting</a:t>
            </a:r>
            <a:r>
              <a:rPr sz="1700">
                <a:solidFill>
                  <a:srgbClr val="E2E8F0"/>
                </a:solidFill>
                <a:latin typeface="Segoe UI"/>
              </a:rPr>
              <a:t> règles Alertmanager → Slack/Email (latence, erreurs, disponibilité).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38BDF8"/>
                </a:solidFill>
                <a:latin typeface="Segoe UI"/>
              </a:rPr>
              <a:t>• Qualité SonarQube</a:t>
            </a:r>
            <a:r>
              <a:rPr sz="1700">
                <a:solidFill>
                  <a:srgbClr val="E2E8F0"/>
                </a:solidFill>
                <a:latin typeface="Segoe UI"/>
              </a:rPr>
              <a:t> dette technique et code smells.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38BDF8"/>
                </a:solidFill>
                <a:latin typeface="Segoe UI"/>
              </a:rPr>
              <a:t>• Tests de charge</a:t>
            </a:r>
            <a:r>
              <a:rPr sz="1700">
                <a:solidFill>
                  <a:srgbClr val="E2E8F0"/>
                </a:solidFill>
                <a:latin typeface="Segoe UI"/>
              </a:rPr>
              <a:t> k6 + SLO définis sur la latence p95.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E2E8F0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38BDF8"/>
                </a:solidFill>
                <a:latin typeface="Segoe UI"/>
              </a:rPr>
              <a:t>Des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Segoe UI"/>
              </a:rPr>
              <a:t>PFE Flow — Licence DevOps · FSAC Casablanca
Démo : 127.0.0.1:8000 · Grafana : 127.0.0.1:3000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