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77240"/>
            <a:ext cx="2194560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8A24B"/>
                </a:solidFill>
                <a:latin typeface="Segoe UI"/>
              </a:rPr>
              <a:t>UNIVERSITÉ HASSAN II DE CASABLANCA — FSAC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5F5F6"/>
                </a:solidFill>
                <a:latin typeface="Segoe UI"/>
              </a:rPr>
              <a:t>Plateforme e-commerce</a:t>
            </a:r>
          </a:p>
          <a:p>
            <a:pPr algn="l"/>
            <a:r>
              <a:rPr sz="4000" b="1" i="0">
                <a:solidFill>
                  <a:srgbClr val="F5F5F6"/>
                </a:solidFill>
                <a:latin typeface="Segoe UI"/>
              </a:rPr>
              <a:t>en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A8A8B0"/>
                </a:solidFill>
                <a:latin typeface="Segoe UI"/>
              </a:rPr>
              <a:t>Conteneurisation · Sécurité OIDC · Persistance polyglotte · Observabilité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194560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A8A8B0"/>
                </a:solidFill>
                <a:latin typeface="Segoe UI"/>
              </a:rPr>
              <a:t>Projet de Fin d'Études — Filière DevOps</a:t>
            </a:r>
          </a:p>
          <a:p>
            <a:pPr algn="l"/>
            <a:r>
              <a:rPr sz="1600" b="0" i="0">
                <a:solidFill>
                  <a:srgbClr val="A8A8B0"/>
                </a:solidFill>
                <a:latin typeface="Segoe UI"/>
              </a:rPr>
              <a:t>Étudiant : Chouaib Raichy     ·     Encadrant : Pr. Noreddine Abghour</a:t>
            </a:r>
          </a:p>
          <a:p>
            <a:pPr algn="l"/>
            <a:r>
              <a:rPr sz="1600" b="0" i="0">
                <a:solidFill>
                  <a:srgbClr val="A8A8B0"/>
                </a:solidFill>
                <a:latin typeface="Segoe UI"/>
              </a:rPr>
              <a:t>Année universitaire 2025 /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Soutenance — [date à compléter]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Soutenance — 15 à 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C8A24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9164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5F5F6"/>
                </a:solidFill>
                <a:latin typeface="Segoe UI"/>
              </a:rPr>
              <a:t>Contexte &amp; problématique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756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du monolithe aux microservices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C8A24B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24328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5F5F6"/>
                </a:solidFill>
                <a:latin typeface="Segoe UI"/>
              </a:rPr>
              <a:t>Architecture &amp; choix technologiques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0837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services, données, sécurité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C8A24B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57016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5F5F6"/>
                </a:solidFill>
                <a:latin typeface="Segoe UI"/>
              </a:rPr>
              <a:t>Réalisation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4106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Docker Compose, Keycloak, observabilité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43984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C8A24B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89704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5F5F6"/>
                </a:solidFill>
                <a:latin typeface="Segoe UI"/>
              </a:rPr>
              <a:t>Tests &amp; résultats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87375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135 tests, 16 conteneurs, 7/7 cibles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7667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C8A24B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2239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5F5F6"/>
                </a:solidFill>
                <a:latin typeface="Segoe UI"/>
              </a:rPr>
              <a:t>Perspectives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806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industrialisation et prolongements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Contexte : du monolithe aux microservices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Modularité, résilience, scalabilité ciblée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Monolithe</a:t>
            </a:r>
            <a:r>
              <a:rPr sz="1500">
                <a:solidFill>
                  <a:srgbClr val="F5F5F6"/>
                </a:solidFill>
                <a:latin typeface="Segoe UI"/>
              </a:rPr>
              <a:t> un seul déployable : simple, mais couplage fort et scalabilité globale.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Microservices</a:t>
            </a:r>
            <a:r>
              <a:rPr sz="1500">
                <a:solidFill>
                  <a:srgbClr val="F5F5F6"/>
                </a:solidFill>
                <a:latin typeface="Segoe UI"/>
              </a:rPr>
              <a:t> services autonomes par domaine, déployés indépendamment.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Bénéfices</a:t>
            </a:r>
            <a:r>
              <a:rPr sz="1500">
                <a:solidFill>
                  <a:srgbClr val="F5F5F6"/>
                </a:solidFill>
                <a:latin typeface="Segoe UI"/>
              </a:rPr>
              <a:t> isolation des pannes, montée en charge ciblée, autonomie des équipes.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Défis</a:t>
            </a:r>
            <a:r>
              <a:rPr sz="1500">
                <a:solidFill>
                  <a:srgbClr val="F5F5F6"/>
                </a:solidFill>
                <a:latin typeface="Segoe UI"/>
              </a:rPr>
              <a:t> découverte, configuration, sécurité distribuée, observabilité.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Réponse</a:t>
            </a:r>
            <a:r>
              <a:rPr sz="1500">
                <a:solidFill>
                  <a:srgbClr val="F5F5F6"/>
                </a:solidFill>
                <a:latin typeface="Segoe UI"/>
              </a:rPr>
              <a:t> Spring Cloud (Config, Eureka, Gateway) + Keycloak + Prometheus/Grafana.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51206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5F6"/>
                </a:solidFill>
                <a:latin typeface="Consolas"/>
              </a:rPr>
              <a:t>Navigateur</a:t>
            </a:r>
          </a:p>
          <a:p>
            <a:r>
              <a:rPr sz="1400">
                <a:solidFill>
                  <a:srgbClr val="F5F5F6"/>
                </a:solidFill>
                <a:latin typeface="Consolas"/>
              </a:rPr>
              <a:t>  └─► API Gateway :8090</a:t>
            </a:r>
          </a:p>
          <a:p>
            <a:r>
              <a:rPr sz="1400">
                <a:solidFill>
                  <a:srgbClr val="F5F5F6"/>
                </a:solidFill>
                <a:latin typeface="Consolas"/>
              </a:rPr>
              <a:t>        ├─► product-service  :8081</a:t>
            </a:r>
          </a:p>
          <a:p>
            <a:r>
              <a:rPr sz="1400">
                <a:solidFill>
                  <a:srgbClr val="F5F5F6"/>
                </a:solidFill>
                <a:latin typeface="Consolas"/>
              </a:rPr>
              <a:t>        ├─► customer-service :8082</a:t>
            </a:r>
          </a:p>
          <a:p>
            <a:r>
              <a:rPr sz="1400">
                <a:solidFill>
                  <a:srgbClr val="F5F5F6"/>
                </a:solidFill>
                <a:latin typeface="Consolas"/>
              </a:rPr>
              <a:t>        ├─► cart-service     :8083</a:t>
            </a:r>
          </a:p>
          <a:p>
            <a:r>
              <a:rPr sz="1400">
                <a:solidFill>
                  <a:srgbClr val="F5F5F6"/>
                </a:solidFill>
                <a:latin typeface="Consolas"/>
              </a:rPr>
              <a:t>        └─► order-service    :8084</a:t>
            </a:r>
          </a:p>
          <a:p>
            <a:r>
              <a:rPr sz="1400">
                <a:solidFill>
                  <a:srgbClr val="F5F5F6"/>
                </a:solidFill>
                <a:latin typeface="Consolas"/>
              </a:rPr>
              <a:t>  Eureka = annuaire · Config =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75488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A8A8B0"/>
                </a:solidFill>
                <a:latin typeface="Segoe UI"/>
              </a:rPr>
              <a:t>Un point d'entrée unique (la passerelle) porte le routage, le CORS et la sécurité ; les services restent privés sur le réseau Docker.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Problématique &amp; objectifs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C8A24B"/>
                </a:solidFill>
                <a:latin typeface="Segoe UI"/>
              </a:rPr>
              <a:t>Comment passer de services développés séparément à une plateforme cohérente, reproductible, sécurisée et observable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Domaine</a:t>
            </a:r>
            <a:r>
              <a:rPr sz="1500">
                <a:solidFill>
                  <a:srgbClr val="F5F5F6"/>
                </a:solidFill>
                <a:latin typeface="Segoe UI"/>
              </a:rPr>
              <a:t> catalogue, clients, paniers, commandes.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Architecture</a:t>
            </a:r>
            <a:r>
              <a:rPr sz="1500">
                <a:solidFill>
                  <a:srgbClr val="F5F5F6"/>
                </a:solidFill>
                <a:latin typeface="Segoe UI"/>
              </a:rPr>
              <a:t> 4 services métier + configuration + découverte + passerelle.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Conteneurisation</a:t>
            </a:r>
            <a:r>
              <a:rPr sz="1500">
                <a:solidFill>
                  <a:srgbClr val="F5F5F6"/>
                </a:solidFill>
                <a:latin typeface="Segoe UI"/>
              </a:rPr>
              <a:t> Docker Compose : 16 conteneurs, volumes, healthchecks.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Sécurité</a:t>
            </a:r>
            <a:r>
              <a:rPr sz="1500">
                <a:solidFill>
                  <a:srgbClr val="F5F5F6"/>
                </a:solidFill>
                <a:latin typeface="Segoe UI"/>
              </a:rPr>
              <a:t> OIDC (Keycloak), JWT, autorisation par rôle et par propriété.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Persistance</a:t>
            </a:r>
            <a:r>
              <a:rPr sz="1500">
                <a:solidFill>
                  <a:srgbClr val="F5F5F6"/>
                </a:solidFill>
                <a:latin typeface="Segoe UI"/>
              </a:rPr>
              <a:t> polyglotte : PostgreSQL (référentiels) + MongoDB (agrégats).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Recherche &amp; stockage</a:t>
            </a:r>
            <a:r>
              <a:rPr sz="1500">
                <a:solidFill>
                  <a:srgbClr val="F5F5F6"/>
                </a:solidFill>
                <a:latin typeface="Segoe UI"/>
              </a:rPr>
              <a:t> Elasticsearch (recherche) + MinIO (images) + Redis (cache).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Observabilité</a:t>
            </a:r>
            <a:r>
              <a:rPr sz="1500">
                <a:solidFill>
                  <a:srgbClr val="F5F5F6"/>
                </a:solidFill>
                <a:latin typeface="Segoe UI"/>
              </a:rPr>
              <a:t> 7 cibles Prometheus + dashboard Grafana.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C8A24B"/>
                </a:solidFill>
                <a:latin typeface="Segoe UI"/>
              </a:rPr>
              <a:t>▪ Qualité</a:t>
            </a:r>
            <a:r>
              <a:rPr sz="1500">
                <a:solidFill>
                  <a:srgbClr val="F5F5F6"/>
                </a:solidFill>
                <a:latin typeface="Segoe UI"/>
              </a:rPr>
              <a:t> 135 tests automatisés, tous au vert.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Choix technologiques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Chaque outil justifié par un besoin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728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297680"/>
                <a:gridCol w="475488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8A24B"/>
                          </a:solidFill>
                          <a:latin typeface="Segoe UI"/>
                        </a:rPr>
                        <a:t>Besoin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8A24B"/>
                          </a:solidFill>
                          <a:latin typeface="Segoe UI"/>
                        </a:rPr>
                        <a:t>Outil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8A24B"/>
                          </a:solidFill>
                          <a:latin typeface="Segoe UI"/>
                        </a:rPr>
                        <a:t>Justification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Services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Java 21 · Spring Boot 3.3 · Spring Cloud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Robustesse, écosystème microservices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Données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PostgreSQL 16 + MongoDB 7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Polyglotte : relationnel + documentaire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Recherche / cache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Elasticsearch 8 · Redis 7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Recherche full-text · cache de lecture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Fichiers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MinIO (S3)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Stockage objet des images produit, compatible S3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Identité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Keycloak 26 (OIDC / OAuth2)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Rôles et attributs, jetons JWT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React 19 · Vite · TypeScript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SPA typée, Authorization Code + PKCE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Supervision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Prometheus · Grafana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Standard cloud-native, provisionné par code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Orchestration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Docker Compose · Kubernetes (manif.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Pile locale reproductible · artefacts K8s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Architecture générale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Un point d'entrée, des services privés, une infra partagée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972800" cy="54864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0">
                <a:solidFill>
                  <a:srgbClr val="F5F5F6"/>
                </a:solidFill>
                <a:latin typeface="Segoe UI"/>
              </a:rPr>
              <a:t>Navigateur — SPA React 19 (Vite, TypeScript) · OAuth2 Authorization Code + PKCE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10972800" cy="548640"/>
          </a:xfrm>
          <a:prstGeom prst="roundRect">
            <a:avLst/>
          </a:prstGeom>
          <a:solidFill>
            <a:srgbClr val="1F1F24"/>
          </a:solidFill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C8A24B"/>
                </a:solidFill>
                <a:latin typeface="Segoe UI"/>
              </a:rPr>
              <a:t>Keycloak 26 :8181 — fournisseur OIDC (realm pfeecom, jetons JWT)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7498079" cy="640080"/>
          </a:xfrm>
          <a:prstGeom prst="roundRect">
            <a:avLst/>
          </a:prstGeom>
          <a:solidFill>
            <a:srgbClr val="1F1F24"/>
          </a:solidFill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C8A24B"/>
                </a:solidFill>
                <a:latin typeface="Segoe UI"/>
              </a:rPr>
              <a:t>API Gateway :8090 — routage · CORS · validation JWT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926080"/>
            <a:ext cx="3291840" cy="64008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0">
                <a:solidFill>
                  <a:srgbClr val="F5F5F6"/>
                </a:solidFill>
                <a:latin typeface="Segoe UI"/>
              </a:rPr>
              <a:t>Eureka :8761 — annuaire de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2606040" cy="64008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5F5F6"/>
                </a:solidFill>
                <a:latin typeface="Segoe UI"/>
              </a:rPr>
              <a:t>product-service</a:t>
            </a:r>
          </a:p>
          <a:p>
            <a:pPr algn="ctr"/>
            <a:r>
              <a:rPr sz="1200" b="1">
                <a:solidFill>
                  <a:srgbClr val="F5F5F6"/>
                </a:solidFill>
                <a:latin typeface="Segoe UI"/>
              </a:rPr>
              <a:t>:8081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794760"/>
            <a:ext cx="2606040" cy="64008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5F5F6"/>
                </a:solidFill>
                <a:latin typeface="Segoe UI"/>
              </a:rPr>
              <a:t>customer-service</a:t>
            </a:r>
          </a:p>
          <a:p>
            <a:pPr algn="ctr"/>
            <a:r>
              <a:rPr sz="1200" b="1">
                <a:solidFill>
                  <a:srgbClr val="F5F5F6"/>
                </a:solidFill>
                <a:latin typeface="Segoe UI"/>
              </a:rPr>
              <a:t>:8082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2606040" cy="64008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5F5F6"/>
                </a:solidFill>
                <a:latin typeface="Segoe UI"/>
              </a:rPr>
              <a:t>cart-service</a:t>
            </a:r>
          </a:p>
          <a:p>
            <a:pPr algn="ctr"/>
            <a:r>
              <a:rPr sz="1200" b="1">
                <a:solidFill>
                  <a:srgbClr val="F5F5F6"/>
                </a:solidFill>
                <a:latin typeface="Segoe UI"/>
              </a:rPr>
              <a:t>:8083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3794760"/>
            <a:ext cx="2606040" cy="64008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5F5F6"/>
                </a:solidFill>
                <a:latin typeface="Segoe UI"/>
              </a:rPr>
              <a:t>order-service</a:t>
            </a:r>
          </a:p>
          <a:p>
            <a:pPr algn="ctr"/>
            <a:r>
              <a:rPr sz="1200" b="1">
                <a:solidFill>
                  <a:srgbClr val="F5F5F6"/>
                </a:solidFill>
                <a:latin typeface="Segoe UI"/>
              </a:rPr>
              <a:t>:8084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17720"/>
            <a:ext cx="10972800" cy="566928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0">
                <a:solidFill>
                  <a:srgbClr val="F5F5F6"/>
                </a:solidFill>
                <a:latin typeface="Segoe UI"/>
              </a:rPr>
              <a:t>PostgreSQL 16 :5432 (catalogue, clients) · MongoDB 7 :27017 (paniers, commandes) · Elasticsearch :9200 · MinIO :9000 · Redis :6379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21808"/>
            <a:ext cx="10972800" cy="566928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0">
                <a:solidFill>
                  <a:srgbClr val="F5F5F6"/>
                </a:solidFill>
                <a:latin typeface="Segoe UI"/>
              </a:rPr>
              <a:t>Config Server :8888 (configuration) · Prometheus :9090 (7 cibles) → Grafana :3000 (dashboard)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Découpage en services (bounded contexts)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Un service par domaine — persistance polyglotte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291840"/>
                <a:gridCol w="173736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A24B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A24B"/>
                          </a:solidFill>
                          <a:latin typeface="Segoe UI"/>
                        </a:rPr>
                        <a:t>Domaine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A24B"/>
                          </a:solidFill>
                          <a:latin typeface="Segoe UI"/>
                        </a:rPr>
                        <a:t>Base logique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A24B"/>
                          </a:solidFill>
                          <a:latin typeface="Segoe UI"/>
                        </a:rPr>
                        <a:t>SGBD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A24B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product-service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Catalogue (produits, catégories)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pfe_products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8081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customer-service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Clients (identité, contact)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pfe_customers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8082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cart-service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Paniers (lignes, quantités)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pfe_carts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MongoDB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8083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order-service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Commandes (validation, statut)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pfe_orders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MongoDB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8084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gateway / config / discovery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Passerelle · configuration · annuaire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8090/8888/8761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Persistance polyglotte : SQL + NoSQL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Un SGBD adapté à chaque type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9728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743200"/>
                <a:gridCol w="3017520"/>
                <a:gridCol w="34747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A24B"/>
                          </a:solidFill>
                          <a:latin typeface="Segoe UI"/>
                        </a:rPr>
                        <a:t>Famille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A24B"/>
                          </a:solidFill>
                          <a:latin typeface="Segoe UI"/>
                        </a:rPr>
                        <a:t>Services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A24B"/>
                          </a:solidFill>
                          <a:latin typeface="Segoe UI"/>
                        </a:rPr>
                        <a:t>SGBD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A24B"/>
                          </a:solidFill>
                          <a:latin typeface="Segoe UI"/>
                        </a:rPr>
                        <a:t>Raison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Référentiels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catalogue, clients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PostgreSQL 16 (JPA + Flyway)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unicité, FK, CHECK, transactions ACID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Agrégats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paniers, commandes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MongoDB 7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F5F6"/>
                          </a:solidFill>
                          <a:latin typeface="Segoe UI"/>
                        </a:rPr>
                        <a:t>lignes embarquées, snapshots, dénormalisation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4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Schéma &amp; données</a:t>
            </a:r>
            <a:r>
              <a:rPr sz="1400">
                <a:solidFill>
                  <a:srgbClr val="F5F5F6"/>
                </a:solidFill>
                <a:latin typeface="Segoe UI"/>
              </a:rPr>
              <a:t> gérés par Flyway (V1 schéma, V2 seed, V3 provisioning), ddl-auto=validate.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Intégrité</a:t>
            </a:r>
            <a:r>
              <a:rPr sz="1400">
                <a:solidFill>
                  <a:srgbClr val="F5F5F6"/>
                </a:solidFill>
                <a:latin typeface="Segoe UI"/>
              </a:rPr>
              <a:t> contraintes au niveau base : UNIQUE email/catégorie, FK produit→catégorie, CHECK prix/stock.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Compléments</a:t>
            </a:r>
            <a:r>
              <a:rPr sz="1400">
                <a:solidFill>
                  <a:srgbClr val="F5F5F6"/>
                </a:solidFill>
                <a:latin typeface="Segoe UI"/>
              </a:rPr>
              <a:t> images produit sur MinIO, recherche sur Elasticsearch, cache de lecture sur Redis.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Préservation</a:t>
            </a:r>
            <a:r>
              <a:rPr sz="1400">
                <a:solidFill>
                  <a:srgbClr val="F5F5F6"/>
                </a:solidFill>
                <a:latin typeface="Segoe UI"/>
              </a:rPr>
              <a:t> les données MongoDB historiques restent gelées (rollback possible).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Limite</a:t>
            </a:r>
            <a:r>
              <a:rPr sz="1400">
                <a:solidFill>
                  <a:srgbClr val="F5F5F6"/>
                </a:solidFill>
                <a:latin typeface="Segoe UI"/>
              </a:rPr>
              <a:t> pas de transaction inter-bases — cohérence par snapshots et validation amont.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Sécurité : OIDC / OAuth2 avec Keycloak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Authentification fédérée, autorisation distribuée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Identité fédérée</a:t>
            </a:r>
            <a:r>
              <a:rPr sz="1400">
                <a:solidFill>
                  <a:srgbClr val="F5F5F6"/>
                </a:solidFill>
                <a:latin typeface="Segoe UI"/>
              </a:rPr>
              <a:t> Keycloak délivre les jetons (OIDC, Authorization Code + PKCE).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JWT</a:t>
            </a:r>
            <a:r>
              <a:rPr sz="1400">
                <a:solidFill>
                  <a:srgbClr val="F5F5F6"/>
                </a:solidFill>
                <a:latin typeface="Segoe UI"/>
              </a:rPr>
              <a:t> signature, émetteur (iss) et audience vérifiés par chaque service.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Resource servers</a:t>
            </a:r>
            <a:r>
              <a:rPr sz="1400">
                <a:solidFill>
                  <a:srgbClr val="F5F5F6"/>
                </a:solidFill>
                <a:latin typeface="Segoe UI"/>
              </a:rPr>
              <a:t> gateway, cart et order valident le jeton.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Rôles</a:t>
            </a:r>
            <a:r>
              <a:rPr sz="1400">
                <a:solidFill>
                  <a:srgbClr val="F5F5F6"/>
                </a:solidFill>
                <a:latin typeface="Segoe UI"/>
              </a:rPr>
              <a:t> ADMIN gère le catalogue et les clients ; CUSTOMER achète.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Propriété</a:t>
            </a:r>
            <a:r>
              <a:rPr sz="1400">
                <a:solidFill>
                  <a:srgbClr val="F5F5F6"/>
                </a:solidFill>
                <a:latin typeface="Segoe UI"/>
              </a:rPr>
              <a:t> le customer_id vient du jeton, jamais du navigateur.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Résultat</a:t>
            </a:r>
            <a:r>
              <a:rPr sz="1400">
                <a:solidFill>
                  <a:srgbClr val="F5F5F6"/>
                </a:solidFill>
                <a:latin typeface="Segoe UI"/>
              </a:rPr>
              <a:t> un client ne voit que ses paniers et commandes (403 sinon).</a:t>
            </a:r>
          </a:p>
        </p:txBody>
      </p:sp>
      <p:pic>
        <p:nvPicPr>
          <p:cNvPr id="8" name="Picture 7" descr="ecom-keyclo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12064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02920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Le port de gestion (Actuator) de la passerelle est interne : aucune métrique n'est exposée sur le port public.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Matrice d'autorisation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Vérifiée de bout en bout : 401 · 403 · 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Segoe UI"/>
                        </a:rPr>
                        <a:t>Ressource / opération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Segoe UI"/>
                        </a:rPr>
                        <a:t>Anonyme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Segoe UI"/>
                        </a:rPr>
                        <a:t>CUSTOMER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GET produits / catégories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Écriture produits / catégories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403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GET liste des clients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403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Paniers / commandes (les siens)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Paniers / commandes (autre client)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403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L'application — boutique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Démo : http://localhost:5173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10</a:t>
            </a:r>
          </a:p>
        </p:txBody>
      </p:sp>
      <p:pic>
        <p:nvPicPr>
          <p:cNvPr id="7" name="Picture 6" descr="ecom-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589520" cy="4743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6916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Connexion</a:t>
            </a:r>
            <a:r>
              <a:rPr sz="1400">
                <a:solidFill>
                  <a:srgbClr val="F5F5F6"/>
                </a:solidFill>
                <a:latin typeface="Segoe UI"/>
              </a:rPr>
              <a:t> Keycloak (PKCE)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Catalogue</a:t>
            </a:r>
            <a:r>
              <a:rPr sz="1400">
                <a:solidFill>
                  <a:srgbClr val="F5F5F6"/>
                </a:solidFill>
                <a:latin typeface="Segoe UI"/>
              </a:rPr>
              <a:t> produits paginés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Recherche</a:t>
            </a:r>
            <a:r>
              <a:rPr sz="1400">
                <a:solidFill>
                  <a:srgbClr val="F5F5F6"/>
                </a:solidFill>
                <a:latin typeface="Segoe UI"/>
              </a:rPr>
              <a:t> Elasticsearch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Panier</a:t>
            </a:r>
            <a:r>
              <a:rPr sz="1400">
                <a:solidFill>
                  <a:srgbClr val="F5F5F6"/>
                </a:solidFill>
                <a:latin typeface="Segoe UI"/>
              </a:rPr>
              <a:t> par client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Commandes</a:t>
            </a:r>
            <a:r>
              <a:rPr sz="1400">
                <a:solidFill>
                  <a:srgbClr val="F5F5F6"/>
                </a:solidFill>
                <a:latin typeface="Segoe UI"/>
              </a:rPr>
              <a:t> suivi de statut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API</a:t>
            </a:r>
            <a:r>
              <a:rPr sz="1400">
                <a:solidFill>
                  <a:srgbClr val="F5F5F6"/>
                </a:solidFill>
                <a:latin typeface="Segoe UI"/>
              </a:rPr>
              <a:t> Bearer token injecté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Conteneurisation &amp;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Docker Compose — 16 conteneurs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Images</a:t>
            </a:r>
            <a:r>
              <a:rPr sz="1400">
                <a:solidFill>
                  <a:srgbClr val="F5F5F6"/>
                </a:solidFill>
                <a:latin typeface="Segoe UI"/>
              </a:rPr>
              <a:t> une image par service (build Maven/JVM, frontend Nginx).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Healthchecks</a:t>
            </a:r>
            <a:r>
              <a:rPr sz="1400">
                <a:solidFill>
                  <a:srgbClr val="F5F5F6"/>
                </a:solidFill>
                <a:latin typeface="Segoe UI"/>
              </a:rPr>
              <a:t> chaque service expose sa sonde de santé.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Chaîne</a:t>
            </a:r>
            <a:r>
              <a:rPr sz="1400">
                <a:solidFill>
                  <a:srgbClr val="F5F5F6"/>
                </a:solidFill>
                <a:latin typeface="Segoe UI"/>
              </a:rPr>
              <a:t> depends_on condition: service_healthy (infra → services → gateway).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Volumes</a:t>
            </a:r>
            <a:r>
              <a:rPr sz="1400">
                <a:solidFill>
                  <a:srgbClr val="F5F5F6"/>
                </a:solidFill>
                <a:latin typeface="Segoe UI"/>
              </a:rPr>
              <a:t> postgres/mongo/keycloak/prometheus/grafana : données persistantes.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Réseau</a:t>
            </a:r>
            <a:r>
              <a:rPr sz="1400">
                <a:solidFill>
                  <a:srgbClr val="F5F5F6"/>
                </a:solidFill>
                <a:latin typeface="Segoe UI"/>
              </a:rPr>
              <a:t> services métier privés ; base sans port hôte ; points d'entrée publiés.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Ports</a:t>
            </a:r>
            <a:r>
              <a:rPr sz="1400">
                <a:solidFill>
                  <a:srgbClr val="F5F5F6"/>
                </a:solidFill>
                <a:latin typeface="Segoe UI"/>
              </a:rPr>
              <a:t> gateway 8090, frontend 5173, keycloak 8181, prom 9090, grafana 3000.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52120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5F5F6"/>
                </a:solidFill>
                <a:latin typeface="Consolas"/>
              </a:rPr>
              <a:t>config-server ─┐</a:t>
            </a:r>
          </a:p>
          <a:p>
            <a:r>
              <a:rPr sz="1200">
                <a:solidFill>
                  <a:srgbClr val="F5F5F6"/>
                </a:solidFill>
                <a:latin typeface="Consolas"/>
              </a:rPr>
              <a:t>               ├─► eureka ─► 4 services ─► gateway ─► frontend</a:t>
            </a:r>
          </a:p>
          <a:p>
            <a:r>
              <a:rPr sz="1200">
                <a:solidFill>
                  <a:srgbClr val="F5F5F6"/>
                </a:solidFill>
                <a:latin typeface="Consolas"/>
              </a:rPr>
              <a:t>discovery ─────┘        ▲</a:t>
            </a:r>
          </a:p>
          <a:p>
            <a:r>
              <a:rPr sz="1200">
                <a:solidFill>
                  <a:srgbClr val="F5F5F6"/>
                </a:solidFill>
                <a:latin typeface="Consolas"/>
              </a:rPr>
              <a:t>postgres·mongo·es·minio·redis ┘</a:t>
            </a:r>
          </a:p>
          <a:p>
            <a:r>
              <a:rPr sz="1200">
                <a:solidFill>
                  <a:srgbClr val="F5F5F6"/>
                </a:solidFill>
                <a:latin typeface="Consolas"/>
              </a:rPr>
              <a:t>prometheus ─► scrape 7 ─► grafana</a:t>
            </a:r>
          </a:p>
          <a:p>
            <a:r>
              <a:rPr sz="1200">
                <a:solidFill>
                  <a:srgbClr val="F5F5F6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5F5F6"/>
                </a:solidFill>
                <a:latin typeface="Consolas"/>
              </a:rPr>
              <a:t>docker compose -f docker-compose.ecom.yml up -d --build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Observabilité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Métriques exposées → Prometheus (7/7 cibles) →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Instrumentation</a:t>
            </a:r>
            <a:r>
              <a:rPr sz="1400">
                <a:solidFill>
                  <a:srgbClr val="F5F5F6"/>
                </a:solidFill>
                <a:latin typeface="Segoe UI"/>
              </a:rPr>
              <a:t> Spring Boot Actuator + Micrometer par service.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Collecte</a:t>
            </a:r>
            <a:r>
              <a:rPr sz="1400">
                <a:solidFill>
                  <a:srgbClr val="F5F5F6"/>
                </a:solidFill>
                <a:latin typeface="Segoe UI"/>
              </a:rPr>
              <a:t> Prometheus scrape les 7 cibles (modèle pull).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Export</a:t>
            </a:r>
            <a:r>
              <a:rPr sz="1400">
                <a:solidFill>
                  <a:srgbClr val="F5F5F6"/>
                </a:solidFill>
                <a:latin typeface="Segoe UI"/>
              </a:rPr>
              <a:t> /actuator/prometheus : compteurs + histogrammes de latence.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Restitution</a:t>
            </a:r>
            <a:r>
              <a:rPr sz="1400">
                <a:solidFill>
                  <a:srgbClr val="F5F5F6"/>
                </a:solidFill>
                <a:latin typeface="Segoe UI"/>
              </a:rPr>
              <a:t> dashboard Grafana provisionné par code (11 panneaux).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Isolation</a:t>
            </a:r>
            <a:r>
              <a:rPr sz="1400">
                <a:solidFill>
                  <a:srgbClr val="F5F5F6"/>
                </a:solidFill>
                <a:latin typeface="Segoe UI"/>
              </a:rPr>
              <a:t> Actuator de la passerelle sur un port de gestion interne.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État vérifié</a:t>
            </a:r>
            <a:r>
              <a:rPr sz="1400">
                <a:solidFill>
                  <a:srgbClr val="F5F5F6"/>
                </a:solidFill>
                <a:latin typeface="Segoe UI"/>
              </a:rPr>
              <a:t> 7 cibles UP · 0 DOWN (capture ci-contre).</a:t>
            </a:r>
          </a:p>
        </p:txBody>
      </p:sp>
      <p:pic>
        <p:nvPicPr>
          <p:cNvPr id="8" name="Picture 7" descr="ecom-promethe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12064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02920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8A8B0"/>
                </a:solidFill>
                <a:latin typeface="Segoe UI"/>
              </a:rPr>
              <a:t>Requêtes clés : up{job="pfe-ecom"} · histogram_quantile(0.95, …) · rate(http_server_requests_seconds_count[1m]).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Dashboard Grafana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pfe-ecom-overview — provisionné au démarrage (11 panneaux)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13</a:t>
            </a:r>
          </a:p>
        </p:txBody>
      </p:sp>
      <p:pic>
        <p:nvPicPr>
          <p:cNvPr id="7" name="Picture 6" descr="ecom-graf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572768"/>
            <a:ext cx="777240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Tests &amp; résultats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651760" cy="137160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600" b="1">
                <a:solidFill>
                  <a:srgbClr val="C8A24B"/>
                </a:solidFill>
                <a:latin typeface="Segoe UI"/>
              </a:rPr>
              <a:t>135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8A8B0"/>
                </a:solidFill>
                <a:latin typeface="Segoe UI"/>
              </a:rPr>
              <a:t>tests au vert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645920"/>
            <a:ext cx="2651760" cy="137160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600" b="1">
                <a:solidFill>
                  <a:srgbClr val="C8A24B"/>
                </a:solidFill>
                <a:latin typeface="Segoe U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743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8A8B0"/>
                </a:solidFill>
                <a:latin typeface="Segoe UI"/>
              </a:rPr>
              <a:t>échec / erreur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651760" cy="137160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600" b="1">
                <a:solidFill>
                  <a:srgbClr val="C8A24B"/>
                </a:solidFill>
                <a:latin typeface="Segoe U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8A8B0"/>
                </a:solidFill>
                <a:latin typeface="Segoe UI"/>
              </a:rPr>
              <a:t>conteneurs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59" y="1645920"/>
            <a:ext cx="2651760" cy="1371600"/>
          </a:xfrm>
          <a:prstGeom prst="roundRect">
            <a:avLst/>
          </a:prstGeom>
          <a:solidFill>
            <a:srgbClr val="17171B"/>
          </a:solidFill>
          <a:ln w="12700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600" b="1">
                <a:solidFill>
                  <a:srgbClr val="C8A24B"/>
                </a:solidFill>
                <a:latin typeface="Segoe UI"/>
              </a:rPr>
              <a:t>7/7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59" y="2743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8A8B0"/>
                </a:solidFill>
                <a:latin typeface="Segoe UI"/>
              </a:rPr>
              <a:t>cibles Prometheus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3429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6126480"/>
                <a:gridCol w="15544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8A24B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8A24B"/>
                          </a:solidFill>
                          <a:latin typeface="Segoe UI"/>
                        </a:rPr>
                        <a:t>Tests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8A24B"/>
                          </a:solidFill>
                          <a:latin typeface="Segoe UI"/>
                        </a:rPr>
                        <a:t>Répartition principale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8A24B"/>
                          </a:solidFill>
                          <a:latin typeface="Segoe UI"/>
                        </a:rPr>
                        <a:t>Résultat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product-service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52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API 22 · images 8 · ES 6 · cache 7 · MinIO 8 · OpenAPI 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customer-service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API 9 · provisioning 7 · OpenAPI 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cart-service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API 12 · sécurité 6 · OpenAPI 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order-service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API 11 · sécurité 5 · OpenAPI 1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api-gateway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sécurité 19 · propriété 6 · docs 5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5F6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8A8B0"/>
                </a:solidFill>
                <a:latin typeface="Segoe UI"/>
              </a:rPr>
              <a:t>Tests sur bases isolées (postgres-test :5433, mongo-test :27018) ; parcours API, sécurité (401/403/200) et contraintes de base. Total 135, dont 36 de sécurité rôle/propriété + 5 de sécurité des endpoints de documentation.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Résultats de la pile complète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Vérifié en conditions réelles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728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40480"/>
                <a:gridCol w="4937760"/>
              </a:tblGrid>
              <a:tr h="3291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Segoe UI"/>
                        </a:rPr>
                        <a:t>Élément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Segoe UI"/>
                        </a:rPr>
                        <a:t>URL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Segoe UI"/>
                        </a:rPr>
                        <a:t>Vérification</a:t>
                      </a:r>
                    </a:p>
                  </a:txBody>
                  <a:tcPr marL="73152" marR="73152" marT="18288" marB="18288">
                    <a:solidFill>
                      <a:srgbClr val="1F1F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Boutique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localhost:5173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SPA servie, connexion Keycloak, catalogue affiché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API produits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localhost:8090/api/products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200 public · CRUD réservé ADMIN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Sécurité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localhost:8181 (Keycloak)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jetons JWT · matrice 401/403/200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Prometheus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localhost:9090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7/7 cibles up · échantillons collectés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Grafana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localhost:3000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5F5F6"/>
                          </a:solidFill>
                          <a:latin typeface="Segoe UI"/>
                        </a:rPr>
                        <a:t>dashboard pfe-ecom-overview (11 panneaux)</a:t>
                      </a:r>
                    </a:p>
                  </a:txBody>
                  <a:tcPr marL="73152" marR="73152" marT="18288" marB="18288">
                    <a:solidFill>
                      <a:srgbClr val="17171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Reproductibilité</a:t>
            </a:r>
            <a:r>
              <a:rPr sz="1400">
                <a:solidFill>
                  <a:srgbClr val="F5F5F6"/>
                </a:solidFill>
                <a:latin typeface="Segoe UI"/>
              </a:rPr>
              <a:t> docker compose -f docker-compose.ecom.yml up -d --build (16 sains).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Persistance</a:t>
            </a:r>
            <a:r>
              <a:rPr sz="1400">
                <a:solidFill>
                  <a:srgbClr val="F5F5F6"/>
                </a:solidFill>
                <a:latin typeface="Segoe UI"/>
              </a:rPr>
              <a:t> les volumes postgres + mongo survivent à un down / up (sans -v).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C8A24B"/>
                </a:solidFill>
                <a:latin typeface="Segoe UI"/>
              </a:rPr>
              <a:t>▪ Kubernetes</a:t>
            </a:r>
            <a:r>
              <a:rPr sz="1400">
                <a:solidFill>
                  <a:srgbClr val="F5F5F6"/>
                </a:solidFill>
                <a:latin typeface="Segoe UI"/>
              </a:rPr>
              <a:t> manifestes fournis et validés statiquement — non déployés dans ce livrable.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5F5F6"/>
                </a:solidFill>
                <a:latin typeface="Segoe UI"/>
              </a:rPr>
              <a:t>Perspectives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50976"/>
            <a:ext cx="1371600" cy="411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8A8B0"/>
                </a:solidFill>
                <a:latin typeface="Segoe UI"/>
              </a:rPr>
              <a:t>Ce qui prolonge naturellement le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8A8B0"/>
                </a:solidFill>
                <a:latin typeface="Segoe UI"/>
              </a:rPr>
              <a:t>PFE — Plateforme e-commerce en microservices · FSAC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8A8B0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C8A24B"/>
                </a:solidFill>
                <a:latin typeface="Segoe UI"/>
              </a:rPr>
              <a:t>▪ Sécurité inter-services</a:t>
            </a:r>
            <a:r>
              <a:rPr sz="1600">
                <a:solidFill>
                  <a:srgbClr val="F5F5F6"/>
                </a:solidFill>
                <a:latin typeface="Segoe UI"/>
              </a:rPr>
              <a:t> jetons de service (client credentials) ou mTLS.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C8A24B"/>
                </a:solidFill>
                <a:latin typeface="Segoe UI"/>
              </a:rPr>
              <a:t>▪ Alerting</a:t>
            </a:r>
            <a:r>
              <a:rPr sz="1600">
                <a:solidFill>
                  <a:srgbClr val="F5F5F6"/>
                </a:solidFill>
                <a:latin typeface="Segoe UI"/>
              </a:rPr>
              <a:t> règles Prometheus + Alertmanager (latence, 5xx, cible DOWN).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C8A24B"/>
                </a:solidFill>
                <a:latin typeface="Segoe UI"/>
              </a:rPr>
              <a:t>▪ CI/CD</a:t>
            </a:r>
            <a:r>
              <a:rPr sz="1600">
                <a:solidFill>
                  <a:srgbClr val="F5F5F6"/>
                </a:solidFill>
                <a:latin typeface="Segoe UI"/>
              </a:rPr>
              <a:t> pipeline build + tests + publication d'images pour cette pile.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C8A24B"/>
                </a:solidFill>
                <a:latin typeface="Segoe UI"/>
              </a:rPr>
              <a:t>▪ Cohérence métier</a:t>
            </a:r>
            <a:r>
              <a:rPr sz="1600">
                <a:solidFill>
                  <a:srgbClr val="F5F5F6"/>
                </a:solidFill>
                <a:latin typeface="Segoe UI"/>
              </a:rPr>
              <a:t> décrément de stock, sagas pour les transactions distribuées.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C8A24B"/>
                </a:solidFill>
                <a:latin typeface="Segoe UI"/>
              </a:rPr>
              <a:t>▪ Traces &amp; logs</a:t>
            </a:r>
            <a:r>
              <a:rPr sz="1600">
                <a:solidFill>
                  <a:srgbClr val="F5F5F6"/>
                </a:solidFill>
                <a:latin typeface="Segoe UI"/>
              </a:rPr>
              <a:t> OpenTelemetry + Loki : compléter les métriques.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C8A24B"/>
                </a:solidFill>
                <a:latin typeface="Segoe UI"/>
              </a:rPr>
              <a:t>▪ Industrialisation</a:t>
            </a:r>
            <a:r>
              <a:rPr sz="1600">
                <a:solidFill>
                  <a:srgbClr val="F5F5F6"/>
                </a:solidFill>
                <a:latin typeface="Segoe UI"/>
              </a:rPr>
              <a:t> déploiement Kubernetes (Ingress, HPA) et approche GitOps.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01768" y="2103120"/>
            <a:ext cx="2194560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 i="0">
                <a:solidFill>
                  <a:srgbClr val="F5F5F6"/>
                </a:solidFill>
                <a:latin typeface="Segoe UI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C8A24B"/>
                </a:solidFill>
                <a:latin typeface="Segoe UI"/>
              </a:rPr>
              <a:t>Des 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A8A8B0"/>
                </a:solidFill>
                <a:latin typeface="Segoe UI"/>
              </a:rPr>
              <a:t>Plateforme e-commerce microservices · Filière DevOps · FSAC Casablanca</a:t>
            </a:r>
          </a:p>
          <a:p>
            <a:pPr algn="ctr"/>
            <a:r>
              <a:rPr sz="1400" b="0" i="0">
                <a:solidFill>
                  <a:srgbClr val="A8A8B0"/>
                </a:solidFill>
                <a:latin typeface="Segoe UI"/>
              </a:rPr>
              <a:t>Démo : localhost:5173     ·     Grafana : 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